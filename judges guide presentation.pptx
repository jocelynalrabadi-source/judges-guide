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77" d="100"/>
          <a:sy n="77" d="100"/>
        </p:scale>
        <p:origin x="9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1/1/26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1/1/26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1/1/26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1/1/26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1/1/26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1/1/26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207" y="3555841"/>
            <a:ext cx="6759388" cy="70685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Intelligent Judicial Decision Support System </a:t>
            </a:r>
            <a:br>
              <a:rPr lang="en-US" sz="2000" dirty="0">
                <a:latin typeface="Algerian" panose="04020705040A02060702" pitchFamily="82" charset="0"/>
              </a:rPr>
            </a:br>
            <a:r>
              <a:rPr lang="en-US" sz="2000" dirty="0">
                <a:latin typeface="Algerian" panose="04020705040A02060702" pitchFamily="82" charset="0"/>
              </a:rPr>
              <a:t>AI-Based Legal Decision Support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55893" y="234384"/>
            <a:ext cx="5636107" cy="638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E9EAD-A1F8-4B74-8554-8790EA164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567" y="2314389"/>
            <a:ext cx="10305826" cy="132079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ook Antiqua" panose="02040602050305030304" pitchFamily="18" charset="0"/>
              </a:rPr>
              <a:t>Judicial systems face a growing number of cases. Manual case analysis is time-consuming and inconsistent. Judges need fast access to similar past cases and decisions.</a:t>
            </a:r>
          </a:p>
        </p:txBody>
      </p:sp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7EE9F-E954-4958-80E0-A836CC67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9B503-396F-4A64-954C-CD28EECF9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09907"/>
            <a:ext cx="10234108" cy="111909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ook Antiqua" panose="02040602050305030304" pitchFamily="18" charset="0"/>
              </a:rPr>
              <a:t>Build an intelligent system to match new cases with similar historical cases. Support judges with data-driven insights. Improve consistency and efficiency in judicial decisions.</a:t>
            </a:r>
          </a:p>
        </p:txBody>
      </p:sp>
    </p:spTree>
    <p:extLst>
      <p:ext uri="{BB962C8B-B14F-4D97-AF65-F5344CB8AC3E}">
        <p14:creationId xmlns:p14="http://schemas.microsoft.com/office/powerpoint/2010/main" val="352822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47C5-A120-444D-A60A-A65A92C23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F32CD-DEE6-4877-A071-EB6B163E4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25702"/>
            <a:ext cx="4631166" cy="18415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ook Antiqua" panose="02040602050305030304" pitchFamily="18" charset="0"/>
              </a:rPr>
              <a:t>The system analyzes legal case texts. It compares new cases with stored case records. It returns the most similar past cases and their decisions.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E675EAF-311C-48D1-B784-8C12751764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24282" y="2321858"/>
            <a:ext cx="5540189" cy="3218329"/>
          </a:xfrm>
        </p:spPr>
      </p:pic>
    </p:spTree>
    <p:extLst>
      <p:ext uri="{BB962C8B-B14F-4D97-AF65-F5344CB8AC3E}">
        <p14:creationId xmlns:p14="http://schemas.microsoft.com/office/powerpoint/2010/main" val="1324391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2FD2-22D1-411A-BE70-AE715B6DB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Text Preprocessing</a:t>
            </a:r>
            <a:r>
              <a:rPr lang="ar-JO" sz="3200" dirty="0">
                <a:latin typeface="Algerian" panose="04020705040A02060702" pitchFamily="82" charset="0"/>
              </a:rPr>
              <a:t> </a:t>
            </a:r>
            <a:r>
              <a:rPr lang="en-US" sz="3200" dirty="0">
                <a:latin typeface="Algerian" panose="04020705040A02060702" pitchFamily="82" charset="0"/>
              </a:rPr>
              <a:t>AND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08303-2A07-45E4-BFAB-0AF907046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9821732" cy="376089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ook Antiqua" panose="02040602050305030304" pitchFamily="18" charset="0"/>
              </a:rPr>
              <a:t>-  Text cleaning and normalization. Tokenization and stop-word removal. </a:t>
            </a:r>
            <a:r>
              <a:rPr lang="ar-JO" sz="2000" dirty="0">
                <a:latin typeface="Book Antiqua" panose="02040602050305030304" pitchFamily="18" charset="0"/>
              </a:rPr>
              <a:t> </a:t>
            </a:r>
            <a:endParaRPr lang="en-US" sz="2000" dirty="0">
              <a:latin typeface="Book Antiqua" panose="02040602050305030304" pitchFamily="18" charset="0"/>
            </a:endParaRPr>
          </a:p>
          <a:p>
            <a:r>
              <a:rPr lang="en-US" sz="2000" dirty="0">
                <a:latin typeface="Book Antiqua" panose="02040602050305030304" pitchFamily="18" charset="0"/>
              </a:rPr>
              <a:t>   Preparing legal text for machine learning models.</a:t>
            </a:r>
          </a:p>
          <a:p>
            <a:endParaRPr lang="en-US" sz="2000" dirty="0">
              <a:latin typeface="Book Antiqua" panose="02040602050305030304" pitchFamily="18" charset="0"/>
            </a:endParaRPr>
          </a:p>
          <a:p>
            <a:r>
              <a:rPr lang="en-US" sz="2000" dirty="0">
                <a:latin typeface="Book Antiqua" panose="02040602050305030304" pitchFamily="18" charset="0"/>
              </a:rPr>
              <a:t>-  TF-IDF Vectorization is used. Transforms legal text into numerical vectors.</a:t>
            </a:r>
          </a:p>
          <a:p>
            <a:r>
              <a:rPr lang="en-US" sz="2000" dirty="0">
                <a:latin typeface="Book Antiqua" panose="02040602050305030304" pitchFamily="18" charset="0"/>
              </a:rPr>
              <a:t>    Captures important legal terms and patterns.</a:t>
            </a:r>
          </a:p>
        </p:txBody>
      </p:sp>
    </p:spTree>
    <p:extLst>
      <p:ext uri="{BB962C8B-B14F-4D97-AF65-F5344CB8AC3E}">
        <p14:creationId xmlns:p14="http://schemas.microsoft.com/office/powerpoint/2010/main" val="113334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E528-A98A-4D49-B5C1-3A326288D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239AE-38D3-46B4-B9D3-4B8B4BF47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764" y="2250889"/>
            <a:ext cx="11143129" cy="199763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ook Antiqua" panose="02040602050305030304" pitchFamily="18" charset="0"/>
              </a:rPr>
              <a:t>The system uses more than one machine learning model to analyze legal case data.</a:t>
            </a:r>
            <a:br>
              <a:rPr lang="en-US" sz="2000" dirty="0">
                <a:latin typeface="Book Antiqua" panose="02040602050305030304" pitchFamily="18" charset="0"/>
              </a:rPr>
            </a:br>
            <a:r>
              <a:rPr lang="en-US" sz="2000" dirty="0">
                <a:latin typeface="Book Antiqua" panose="02040602050305030304" pitchFamily="18" charset="0"/>
              </a:rPr>
              <a:t>Common models include Logistic Regression, Support Vector Machines (SVM), and Naive Bayes.</a:t>
            </a:r>
            <a:br>
              <a:rPr lang="en-US" sz="2000" dirty="0">
                <a:latin typeface="Book Antiqua" panose="02040602050305030304" pitchFamily="18" charset="0"/>
              </a:rPr>
            </a:br>
            <a:r>
              <a:rPr lang="en-US" sz="2000" dirty="0">
                <a:latin typeface="Book Antiqua" panose="02040602050305030304" pitchFamily="18" charset="0"/>
              </a:rPr>
              <a:t>These models are trained on historical cases with known judicial decisions.</a:t>
            </a:r>
            <a:br>
              <a:rPr lang="en-US" sz="2000" dirty="0">
                <a:latin typeface="Book Antiqua" panose="02040602050305030304" pitchFamily="18" charset="0"/>
              </a:rPr>
            </a:br>
            <a:r>
              <a:rPr lang="en-US" sz="2000" dirty="0">
                <a:latin typeface="Book Antiqua" panose="02040602050305030304" pitchFamily="18" charset="0"/>
              </a:rPr>
              <a:t>After training, the models help predict decisions for new cases.</a:t>
            </a:r>
          </a:p>
        </p:txBody>
      </p:sp>
    </p:spTree>
    <p:extLst>
      <p:ext uri="{BB962C8B-B14F-4D97-AF65-F5344CB8AC3E}">
        <p14:creationId xmlns:p14="http://schemas.microsoft.com/office/powerpoint/2010/main" val="1926902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D3D5-BB0D-4825-B89E-19EBD359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Case Matching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B17BC-0679-4A4E-A95B-90F8378FC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953" y="2120900"/>
            <a:ext cx="5217063" cy="374819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ar-JO" dirty="0"/>
              <a:t>  </a:t>
            </a:r>
            <a:r>
              <a:rPr lang="en-US" sz="1800" dirty="0">
                <a:latin typeface="Book Antiqua" panose="02040602050305030304" pitchFamily="18" charset="0"/>
              </a:rPr>
              <a:t>The system receives a new legal case as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JO" sz="1800" dirty="0">
                <a:latin typeface="Book Antiqua" panose="02040602050305030304" pitchFamily="18" charset="0"/>
              </a:rPr>
              <a:t>  </a:t>
            </a:r>
            <a:r>
              <a:rPr lang="en-US" sz="1800" dirty="0">
                <a:latin typeface="Book Antiqua" panose="02040602050305030304" pitchFamily="18" charset="0"/>
              </a:rPr>
              <a:t>The case text is transformed into numerical </a:t>
            </a:r>
            <a:r>
              <a:rPr lang="ar-JO" sz="1800" dirty="0">
                <a:latin typeface="Book Antiqua" panose="02040602050305030304" pitchFamily="18" charset="0"/>
              </a:rPr>
              <a:t>      </a:t>
            </a:r>
            <a:r>
              <a:rPr lang="en-US" sz="1800" dirty="0">
                <a:latin typeface="Book Antiqua" panose="02040602050305030304" pitchFamily="18" charset="0"/>
              </a:rPr>
              <a:t>features using TF-IDF.</a:t>
            </a:r>
            <a:r>
              <a:rPr lang="ar-JO" sz="1800" dirty="0">
                <a:latin typeface="Book Antiqua" panose="02040602050305030304" pitchFamily="18" charset="0"/>
              </a:rPr>
              <a:t>  </a:t>
            </a:r>
            <a:endParaRPr lang="en-US" sz="18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JO" sz="1800" dirty="0">
                <a:latin typeface="Book Antiqua" panose="02040602050305030304" pitchFamily="18" charset="0"/>
              </a:rPr>
              <a:t>  </a:t>
            </a:r>
            <a:r>
              <a:rPr lang="en-US" sz="1800" dirty="0">
                <a:latin typeface="Book Antiqua" panose="02040602050305030304" pitchFamily="18" charset="0"/>
              </a:rPr>
              <a:t>Similarity scores are calculated between the new case and stored historical cases.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JO" sz="1800" dirty="0">
                <a:latin typeface="Book Antiqua" panose="02040602050305030304" pitchFamily="18" charset="0"/>
              </a:rPr>
              <a:t>  </a:t>
            </a:r>
            <a:r>
              <a:rPr lang="en-US" sz="1800" dirty="0">
                <a:latin typeface="Book Antiqua" panose="02040602050305030304" pitchFamily="18" charset="0"/>
              </a:rPr>
              <a:t>The most similar cases are selected for further analysis and decision prediction.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9051605-E9A0-455A-A4D1-A6EDEE60A0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41449" y="2081778"/>
            <a:ext cx="4414231" cy="3989294"/>
          </a:xfrm>
        </p:spPr>
      </p:pic>
    </p:spTree>
    <p:extLst>
      <p:ext uri="{BB962C8B-B14F-4D97-AF65-F5344CB8AC3E}">
        <p14:creationId xmlns:p14="http://schemas.microsoft.com/office/powerpoint/2010/main" val="2408219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9AE5-3B47-4076-A623-2864EC599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Decision Prediction</a:t>
            </a:r>
            <a:r>
              <a:rPr lang="ar-JO" sz="2400" dirty="0">
                <a:latin typeface="Algerian" panose="04020705040A02060702" pitchFamily="82" charset="0"/>
              </a:rPr>
              <a:t> </a:t>
            </a:r>
            <a:r>
              <a:rPr lang="en-US" sz="2400" dirty="0">
                <a:latin typeface="Algerian" panose="04020705040A02060702" pitchFamily="82" charset="0"/>
              </a:rPr>
              <a:t> ,  System Output AND 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7D0DD-FFF0-4730-B3F6-B768FEB19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Book Antiqua" panose="02040602050305030304" pitchFamily="18" charset="0"/>
              </a:rPr>
              <a:t>1)  The system predicts the likely decision. Prediction is based on similar past cases. Outputs a numeric or labeled decision.</a:t>
            </a:r>
          </a:p>
          <a:p>
            <a:pPr marL="0" indent="0">
              <a:buNone/>
            </a:pPr>
            <a:r>
              <a:rPr lang="en-US" sz="2000" dirty="0">
                <a:latin typeface="Book Antiqua" panose="02040602050305030304" pitchFamily="18" charset="0"/>
              </a:rPr>
              <a:t>2) Most similar cases are displayed. Predicted decision is shown. Confidence scores may be included.</a:t>
            </a:r>
          </a:p>
          <a:p>
            <a:pPr marL="0" indent="0">
              <a:buNone/>
            </a:pPr>
            <a:r>
              <a:rPr lang="en-US" sz="2000" dirty="0">
                <a:latin typeface="Book Antiqua" panose="02040602050305030304" pitchFamily="18" charset="0"/>
                <a:cs typeface="Arial" panose="020B0604020202020204" pitchFamily="34" charset="0"/>
              </a:rPr>
              <a:t>3) Simple and interactive interface. Judges upload case text or files. Results are displayed clearly.</a:t>
            </a:r>
          </a:p>
          <a:p>
            <a:pPr>
              <a:buFontTx/>
              <a:buChar char="-"/>
            </a:pPr>
            <a:endParaRPr lang="en-US" sz="2000" dirty="0">
              <a:latin typeface="Book Antiqua" panose="02040602050305030304" pitchFamily="18" charset="0"/>
            </a:endParaRPr>
          </a:p>
          <a:p>
            <a:pPr>
              <a:buFontTx/>
              <a:buChar char="-"/>
            </a:pPr>
            <a:endParaRPr lang="en-US" sz="2000" dirty="0">
              <a:latin typeface="Book Antiqua" panose="02040602050305030304" pitchFamily="18" charset="0"/>
            </a:endParaRPr>
          </a:p>
          <a:p>
            <a:pPr>
              <a:buFontTx/>
              <a:buChar char="-"/>
            </a:pPr>
            <a:endParaRPr lang="en-US" sz="2000" dirty="0">
              <a:latin typeface="Book Antiqua" panose="0204060205030503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5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39586-7D9D-4427-86D9-7CFA2FC41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5571A-C613-4603-9689-5DC056A1C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pPr marL="0" indent="0">
              <a:buNone/>
            </a:pPr>
            <a:r>
              <a:rPr lang="en-US" sz="2000" dirty="0">
                <a:latin typeface="Book Antiqua" panose="02040602050305030304" pitchFamily="18" charset="0"/>
              </a:rPr>
              <a:t>1) Supports judges by providing fast access to similar past cases and relevant decisions.</a:t>
            </a:r>
          </a:p>
          <a:p>
            <a:pPr marL="0" indent="0">
              <a:buNone/>
            </a:pPr>
            <a:r>
              <a:rPr lang="en-US" sz="2000" dirty="0">
                <a:latin typeface="Book Antiqua" panose="02040602050305030304" pitchFamily="18" charset="0"/>
              </a:rPr>
              <a:t>2) Enhances consistency in judicial rulings by relying on data-driven case matching.</a:t>
            </a:r>
          </a:p>
          <a:p>
            <a:pPr marL="0" indent="0">
              <a:buNone/>
            </a:pPr>
            <a:r>
              <a:rPr lang="en-US" sz="2000" dirty="0">
                <a:latin typeface="Book Antiqua" panose="02040602050305030304" pitchFamily="18" charset="0"/>
              </a:rPr>
              <a:t>3) Reduces time and effort required for manual case analysis.</a:t>
            </a:r>
          </a:p>
          <a:p>
            <a:pPr marL="0" indent="0">
              <a:buNone/>
            </a:pPr>
            <a:r>
              <a:rPr lang="en-US" sz="2000" dirty="0">
                <a:latin typeface="Book Antiqua" panose="02040602050305030304" pitchFamily="18" charset="0"/>
              </a:rPr>
              <a:t>4) Improves transparency by making decision patterns and similarities more visible.</a:t>
            </a:r>
          </a:p>
          <a:p>
            <a:pPr marL="0" indent="0">
              <a:buNone/>
            </a:pPr>
            <a:r>
              <a:rPr lang="en-US" sz="2000" dirty="0">
                <a:latin typeface="Book Antiqua" panose="02040602050305030304" pitchFamily="18" charset="0"/>
              </a:rPr>
              <a:t>5) Acts as a decision support tool without replacing human judicial judgment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50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C78C2D1-6EA1-4B27-925D-9069BCC22F81}"/>
              </a:ext>
            </a:extLst>
          </p:cNvPr>
          <p:cNvSpPr txBox="1"/>
          <p:nvPr/>
        </p:nvSpPr>
        <p:spPr>
          <a:xfrm>
            <a:off x="502024" y="465275"/>
            <a:ext cx="978049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>
                <a:latin typeface="Algerian" panose="04020705040A02060702" pitchFamily="82" charset="0"/>
              </a:rPr>
              <a:t>Future Improvements</a:t>
            </a:r>
            <a:endParaRPr lang="ar-JO" sz="2800" u="sng" dirty="0">
              <a:latin typeface="Algerian" panose="04020705040A02060702" pitchFamily="82" charset="0"/>
            </a:endParaRPr>
          </a:p>
          <a:p>
            <a:endParaRPr lang="en-US" sz="2000" b="1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JO" sz="2000" dirty="0">
                <a:latin typeface="Book Antiqua" panose="02040602050305030304" pitchFamily="18" charset="0"/>
              </a:rPr>
              <a:t>   </a:t>
            </a:r>
            <a:r>
              <a:rPr lang="en-US" sz="2000" dirty="0">
                <a:latin typeface="Book Antiqua" panose="02040602050305030304" pitchFamily="18" charset="0"/>
              </a:rPr>
              <a:t>Integrate more advanced machine learning and deep learning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JO" sz="2000" dirty="0">
                <a:latin typeface="Book Antiqua" panose="02040602050305030304" pitchFamily="18" charset="0"/>
              </a:rPr>
              <a:t>   </a:t>
            </a:r>
            <a:r>
              <a:rPr lang="en-US" sz="2000" dirty="0">
                <a:latin typeface="Book Antiqua" panose="02040602050305030304" pitchFamily="18" charset="0"/>
              </a:rPr>
              <a:t>Expand the system to cover multiple legal domains.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JO" sz="2000" dirty="0">
                <a:latin typeface="Book Antiqua" panose="02040602050305030304" pitchFamily="18" charset="0"/>
              </a:rPr>
              <a:t>   </a:t>
            </a:r>
            <a:r>
              <a:rPr lang="en-US" sz="2000" dirty="0">
                <a:latin typeface="Book Antiqua" panose="02040602050305030304" pitchFamily="18" charset="0"/>
              </a:rPr>
              <a:t>Use larger and more diverse judicial datasets to improve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JO" sz="2000" dirty="0">
                <a:latin typeface="Book Antiqua" panose="02040602050305030304" pitchFamily="18" charset="0"/>
              </a:rPr>
              <a:t>   </a:t>
            </a:r>
            <a:r>
              <a:rPr lang="en-US" sz="2000" dirty="0">
                <a:latin typeface="Book Antiqua" panose="02040602050305030304" pitchFamily="18" charset="0"/>
              </a:rPr>
              <a:t>Enhance similarity measures for more precise case matching.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ar-JO" sz="2000" dirty="0">
                <a:latin typeface="Book Antiqua" panose="02040602050305030304" pitchFamily="18" charset="0"/>
              </a:rPr>
              <a:t>  </a:t>
            </a:r>
            <a:r>
              <a:rPr lang="en-US" sz="2000" dirty="0">
                <a:latin typeface="Book Antiqua" panose="02040602050305030304" pitchFamily="18" charset="0"/>
              </a:rPr>
              <a:t>Enable integration with official judicial databases.</a:t>
            </a:r>
          </a:p>
        </p:txBody>
      </p:sp>
    </p:spTree>
    <p:extLst>
      <p:ext uri="{BB962C8B-B14F-4D97-AF65-F5344CB8AC3E}">
        <p14:creationId xmlns:p14="http://schemas.microsoft.com/office/powerpoint/2010/main" val="943510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A5036-2097-424F-99D2-92BEA6C23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6244" y="2490320"/>
            <a:ext cx="4639736" cy="1877359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Algerian" panose="04020705040A02060702" pitchFamily="82" charset="0"/>
              </a:rPr>
              <a:t>Key Code Components Used in the System   </a:t>
            </a:r>
            <a:r>
              <a:rPr lang="en-US" sz="1600" dirty="0">
                <a:latin typeface="Algerian" panose="04020705040A02060702" pitchFamily="82" charset="0"/>
                <a:sym typeface="Wingdings" panose="05000000000000000000" pitchFamily="2" charset="2"/>
              </a:rPr>
              <a:t>:</a:t>
            </a:r>
            <a:endParaRPr lang="en-US" sz="1600" dirty="0">
              <a:latin typeface="Algerian" panose="04020705040A02060702" pitchFamily="82" charset="0"/>
            </a:endParaRPr>
          </a:p>
          <a:p>
            <a:r>
              <a:rPr lang="en-US" sz="1600" dirty="0">
                <a:latin typeface="Algerian" panose="04020705040A02060702" pitchFamily="82" charset="0"/>
              </a:rPr>
              <a:t>The following code snippets represent  core components implemented in this project, each contributing to</a:t>
            </a:r>
            <a:r>
              <a:rPr lang="ar-JO" sz="1600" dirty="0">
                <a:latin typeface="Algerian" panose="04020705040A02060702" pitchFamily="82" charset="0"/>
              </a:rPr>
              <a:t> </a:t>
            </a:r>
            <a:r>
              <a:rPr lang="en-US" sz="1600" dirty="0">
                <a:latin typeface="Algerian" panose="04020705040A02060702" pitchFamily="82" charset="0"/>
              </a:rPr>
              <a:t>the system’s functionality.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77D3570-BFD3-43D7-A9B6-84F3511432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46022" y="2067110"/>
            <a:ext cx="4054255" cy="4001995"/>
          </a:xfrm>
        </p:spPr>
      </p:pic>
    </p:spTree>
    <p:extLst>
      <p:ext uri="{BB962C8B-B14F-4D97-AF65-F5344CB8AC3E}">
        <p14:creationId xmlns:p14="http://schemas.microsoft.com/office/powerpoint/2010/main" val="2646031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82AD-22B7-4F9C-B4F1-EE9D4CB2C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4"/>
            <a:ext cx="3517567" cy="1185852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Legal Text Consolidation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B9C48E-05EF-4C4C-AE25-CE37D6B63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7162" y="1833282"/>
            <a:ext cx="6526306" cy="319143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BA0D6-1B60-4E6E-93D3-64ADCC5A3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2370698"/>
            <a:ext cx="3517567" cy="2246126"/>
          </a:xfrm>
        </p:spPr>
        <p:txBody>
          <a:bodyPr/>
          <a:lstStyle/>
          <a:p>
            <a:r>
              <a:rPr lang="en-US" dirty="0">
                <a:latin typeface="Book Antiqua" panose="02040602050305030304" pitchFamily="18" charset="0"/>
              </a:rPr>
              <a:t>This step unifies heterogeneous legal information into a single structured textual representation, ensuring consistent feature extraction across all cases .</a:t>
            </a:r>
          </a:p>
        </p:txBody>
      </p:sp>
    </p:spTree>
    <p:extLst>
      <p:ext uri="{BB962C8B-B14F-4D97-AF65-F5344CB8AC3E}">
        <p14:creationId xmlns:p14="http://schemas.microsoft.com/office/powerpoint/2010/main" val="1351271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82AD-22B7-4F9C-B4F1-EE9D4CB2C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4"/>
            <a:ext cx="3517567" cy="118585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TF-IDF Feature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BA0D6-1B60-4E6E-93D3-64ADCC5A3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6848" y="2223248"/>
            <a:ext cx="3614185" cy="2330823"/>
          </a:xfrm>
        </p:spPr>
        <p:txBody>
          <a:bodyPr/>
          <a:lstStyle/>
          <a:p>
            <a:br>
              <a:rPr lang="en-US" dirty="0"/>
            </a:br>
            <a:r>
              <a:rPr lang="en-US" dirty="0">
                <a:latin typeface="Book Antiqua" panose="02040602050305030304" pitchFamily="18" charset="0"/>
              </a:rPr>
              <a:t>TF-IDF is employed to weight legally significant terms while reducing the influence of common, non-informative words, enabling effective case comparison 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40C031-B7A7-41EF-AAC7-A551147C9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1598" y="2644588"/>
            <a:ext cx="6535363" cy="1909483"/>
          </a:xfrm>
        </p:spPr>
      </p:pic>
    </p:spTree>
    <p:extLst>
      <p:ext uri="{BB962C8B-B14F-4D97-AF65-F5344CB8AC3E}">
        <p14:creationId xmlns:p14="http://schemas.microsoft.com/office/powerpoint/2010/main" val="1536651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82AD-22B7-4F9C-B4F1-EE9D4CB2C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582705"/>
            <a:ext cx="3517567" cy="1846729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Similarity-Based Case Retrieval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BA0D6-1B60-4E6E-93D3-64ADCC5A3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6848" y="2429435"/>
            <a:ext cx="3614185" cy="2214281"/>
          </a:xfrm>
        </p:spPr>
        <p:txBody>
          <a:bodyPr/>
          <a:lstStyle/>
          <a:p>
            <a:br>
              <a:rPr lang="en-US" dirty="0"/>
            </a:br>
            <a:r>
              <a:rPr lang="en-US" dirty="0">
                <a:latin typeface="Book Antiqua" panose="02040602050305030304" pitchFamily="18" charset="0"/>
              </a:rPr>
              <a:t>Cosine similarity is used to retrieve the most relevant historical cases by measuring semantic closeness within a high-dimensional legal feature space 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0BC59F-16B3-41EC-A704-5B4D8E08B4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2307" y="2635623"/>
            <a:ext cx="6642845" cy="1801906"/>
          </a:xfrm>
        </p:spPr>
      </p:pic>
    </p:spTree>
    <p:extLst>
      <p:ext uri="{BB962C8B-B14F-4D97-AF65-F5344CB8AC3E}">
        <p14:creationId xmlns:p14="http://schemas.microsoft.com/office/powerpoint/2010/main" val="1965155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BD3F4-5FF5-4922-9C4D-47289C046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CD28C-6B6F-4C45-8333-0A30E25C3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798885" cy="376089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This project demonstrates how machine learning techniques can support judicial decision-making by</a:t>
            </a:r>
            <a:r>
              <a:rPr lang="ar-JO" sz="2000" dirty="0">
                <a:latin typeface="Algerian" panose="04020705040A02060702" pitchFamily="82" charset="0"/>
              </a:rPr>
              <a:t> </a:t>
            </a:r>
            <a:r>
              <a:rPr lang="en-US" sz="2000" dirty="0">
                <a:latin typeface="Algerian" panose="04020705040A02060702" pitchFamily="82" charset="0"/>
              </a:rPr>
              <a:t>matching legal cases with relevant precedents while preserving human judgment</a:t>
            </a:r>
          </a:p>
        </p:txBody>
      </p:sp>
    </p:spTree>
    <p:extLst>
      <p:ext uri="{BB962C8B-B14F-4D97-AF65-F5344CB8AC3E}">
        <p14:creationId xmlns:p14="http://schemas.microsoft.com/office/powerpoint/2010/main" val="69859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75BFD-5C9D-4656-9FA9-0CDE80683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Algerian" panose="04020705040A02060702" pitchFamily="82" charset="0"/>
              </a:rPr>
              <a:t>Supervisor :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sz="2000" dirty="0" err="1">
                <a:latin typeface="Algerian" panose="04020705040A02060702" pitchFamily="82" charset="0"/>
              </a:rPr>
              <a:t>dr.enas</a:t>
            </a:r>
            <a:r>
              <a:rPr lang="en-US" sz="2000" dirty="0">
                <a:latin typeface="Algerian" panose="04020705040A02060702" pitchFamily="82" charset="0"/>
              </a:rPr>
              <a:t> </a:t>
            </a:r>
            <a:r>
              <a:rPr lang="en-US" sz="2000" dirty="0" err="1">
                <a:latin typeface="Algerian" panose="04020705040A02060702" pitchFamily="82" charset="0"/>
              </a:rPr>
              <a:t>khashashneh</a:t>
            </a:r>
            <a:endParaRPr lang="en-US" sz="2000" dirty="0">
              <a:latin typeface="Algerian" panose="04020705040A02060702" pitchFamily="8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EC3F8-795E-45E6-9984-1BF1D171A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800" dirty="0">
                <a:latin typeface="Algerian" panose="04020705040A02060702" pitchFamily="82" charset="0"/>
              </a:rPr>
              <a:t>Team members : 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lgerian" panose="04020705040A02060702" pitchFamily="82" charset="0"/>
              </a:rPr>
              <a:t>Sara al-Zreigat 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lgerian" panose="04020705040A02060702" pitchFamily="82" charset="0"/>
              </a:rPr>
              <a:t>Jocelyn  al-</a:t>
            </a:r>
            <a:r>
              <a:rPr lang="en-US" dirty="0" err="1">
                <a:latin typeface="Algerian" panose="04020705040A02060702" pitchFamily="82" charset="0"/>
              </a:rPr>
              <a:t>rabadi</a:t>
            </a:r>
            <a:endParaRPr lang="en-US" dirty="0">
              <a:latin typeface="Algerian" panose="04020705040A02060702" pitchFamily="82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latin typeface="Algerian" panose="04020705040A02060702" pitchFamily="82" charset="0"/>
              </a:rPr>
              <a:t>Reham</a:t>
            </a:r>
            <a:r>
              <a:rPr lang="en-US" dirty="0">
                <a:latin typeface="Algerian" panose="04020705040A02060702" pitchFamily="82" charset="0"/>
              </a:rPr>
              <a:t> al-</a:t>
            </a:r>
            <a:r>
              <a:rPr lang="en-US" dirty="0" err="1">
                <a:latin typeface="Algerian" panose="04020705040A02060702" pitchFamily="82" charset="0"/>
              </a:rPr>
              <a:t>rabadi</a:t>
            </a:r>
            <a:endParaRPr lang="en-US" dirty="0">
              <a:latin typeface="Algerian" panose="04020705040A02060702" pitchFamily="82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latin typeface="Algerian" panose="04020705040A02060702" pitchFamily="82" charset="0"/>
              </a:rPr>
              <a:t>lana</a:t>
            </a:r>
            <a:r>
              <a:rPr lang="en-US" dirty="0">
                <a:latin typeface="Algerian" panose="04020705040A02060702" pitchFamily="82" charset="0"/>
              </a:rPr>
              <a:t> al-</a:t>
            </a:r>
            <a:r>
              <a:rPr lang="en-US" dirty="0" err="1">
                <a:latin typeface="Algerian" panose="04020705040A02060702" pitchFamily="82" charset="0"/>
              </a:rPr>
              <a:t>rabadi</a:t>
            </a:r>
            <a:r>
              <a:rPr lang="en-US" dirty="0">
                <a:latin typeface="Algerian" panose="04020705040A02060702" pitchFamily="8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816000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{2E47B0A8-B420-4C18-95BA-B1C1217D64DA}TF427093bb-7ddc-497b-80f4-fe945bcee621ff7241c0_win32-add2936a5c77</Template>
  <TotalTime>151</TotalTime>
  <Words>596</Words>
  <Application>Microsoft Office PowerPoint</Application>
  <PresentationFormat>Widescreen</PresentationFormat>
  <Paragraphs>56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1_RetrospectVTI</vt:lpstr>
      <vt:lpstr>Intelligent Judicial Decision Support System  AI-Based Legal Decision Support</vt:lpstr>
      <vt:lpstr>Problem Statement</vt:lpstr>
      <vt:lpstr>Project Objective</vt:lpstr>
      <vt:lpstr>System Overview</vt:lpstr>
      <vt:lpstr>Text Preprocessing AND Feature Extraction</vt:lpstr>
      <vt:lpstr>Machine Learning Models</vt:lpstr>
      <vt:lpstr>Case Matching Process</vt:lpstr>
      <vt:lpstr>Decision Prediction  ,  System Output AND User Interface</vt:lpstr>
      <vt:lpstr>Benefits</vt:lpstr>
      <vt:lpstr>PowerPoint Presentation</vt:lpstr>
      <vt:lpstr>PowerPoint Presentation</vt:lpstr>
      <vt:lpstr>Legal Text Consolidation</vt:lpstr>
      <vt:lpstr>TF-IDF Feature Engineering</vt:lpstr>
      <vt:lpstr>Similarity-Based Case Retrieval</vt:lpstr>
      <vt:lpstr>Conclusion</vt:lpstr>
      <vt:lpstr>Supervisor : dr.enas khashashneh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Judicial Decision Support System  AI-Based Legal Decision Support</dc:title>
  <dc:creator>Sara Mohammad Zreigat</dc:creator>
  <cp:lastModifiedBy>Sara Mohammad Zreigat</cp:lastModifiedBy>
  <cp:revision>2</cp:revision>
  <dcterms:created xsi:type="dcterms:W3CDTF">2025-12-28T15:11:07Z</dcterms:created>
  <dcterms:modified xsi:type="dcterms:W3CDTF">2026-01-01T10:15:29Z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